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Introduce the project in one sentence. Emphasize design-first delivery, the full-stack MVP, and IBM Bob as the implementation accelerator constrained by requirements, data model, OpenAPI and tests. Keep this slide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Manager angle: explain the user and business problem before technology. SME angle: mention the failure modes the design must prevent: overselling, authorization leaks, inconsistent totals and schema/API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customer journey. Then state the scope boundary explicitly. This shows controlled MVP delivery rather than an incomplete feature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main “how I built it” slide. Explain that Bob was not given an open-ended task. Each milestone was constrained by the requirements, data model and OpenAPI, followed by review, tests and Git checkpoints.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three-tier flow and why a modular monolith was selected over microservices: less operational overhead for the MVP, while package boundaries preserve domain separation and future extraction 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SME focus: contract alignment. Mention that OpenAPI is the source of truth for the REST boundary and Flyway owns schema evolution. Highlight injected Clock and BigDecimal as deliberate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through the relationships at a high level. Highlight order-item price snapshots, one payment per order, inventory on products, Flyway-owned schema changes and NUMERIC(12,2) for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SMEs may ask why JWT. Explain statelessness and the REST fit. Also emphasize that authentication alone is insufficient: ownership checks prevent cross-user access to addresses and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frontend does not recalculate authoritative totals or inventory. It renders typed API responses and reuses shared utilities and components.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stock changes at order creation rather than payment, why payment must not double-decrement, and how the transaction protects order/inventory consistency.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timestamp bug simply: LocalDateTime carried no offset, so JavaScript could interpret the value as browser-local. OffsetDateTime makes the instant explicit. Keep UTC internally and convert only for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transparent: the suite covers 14 E2E scenarios, but real shared-database state can make repeated parallel runs flaky. The backend 282 and frontend 115 suites are green; deterministic E2E data isolation is the next hardening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issues as root-cause analysis and controlled fixes. This slide demonstrates engineering maturity. Emphasize the timezone fix, legacy seed duplicates and shared-state E2E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answer “why” questions. Focus on 3–4 decisions depending on time: modular monolith, Flyway, BigDecimal, stock timing, timezones and Testcontainers.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transition into a live demo. One end-to-end journey is stronger than clicking through every page. Seed the database before the session and do not reseed mid-demo because stock values reset.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that these features were intentionally excluded from the MVP, not forgotten. The same design-first workflow would be used for each Phase-2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your Q&amp;A checklist. You can skip it during the main presentation and keep it available if SMEs ask deeper technical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reinforcing three points: complete MVP, clear technical design, and disciplined use of Bob.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E-Bookstore 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235440" y="651052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Bhargav Bhutwala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6A9FA"/>
                </a:solidFill>
              </a:rPr>
              <a:t>E-BOOKSTORE CAPSTONE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" y="144475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Design, Build &amp; Validation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30428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D6E5"/>
                </a:solidFill>
              </a:rPr>
              <a:t>A full-stack bookstore built with Spring Boot, PostgreSQL, React + TypeScript, and an agentic development workflow using IBM Bob.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331012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3374136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Java 21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30552" y="3310128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85416" y="3374136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Spring Boot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58184" y="3310128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3048" y="3374136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PostgreSQL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31536" y="331012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3374136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React + 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50474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E"/>
                </a:solidFill>
              </a:rPr>
              <a:t>Presented by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218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Bhargav Bhutwala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5742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8CF"/>
                </a:solidFill>
              </a:rPr>
              <a:t>Manager &amp; SME Review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0" y="1188720"/>
            <a:ext cx="3017520" cy="786384"/>
          </a:xfrm>
          <a:prstGeom prst="roundRect">
            <a:avLst>
              <a:gd name="adj" fmla="val 6977"/>
            </a:avLst>
          </a:prstGeom>
          <a:solidFill>
            <a:srgbClr val="EAF2FF"/>
          </a:solidFill>
          <a:ln w="15240">
            <a:solidFill>
              <a:srgbClr val="4B83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13167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React Frontend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882128" y="1600200"/>
            <a:ext cx="279806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Catalog • Cart • Profile • Orders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7772400" y="2487168"/>
            <a:ext cx="3017520" cy="786384"/>
          </a:xfrm>
          <a:prstGeom prst="roundRect">
            <a:avLst>
              <a:gd name="adj" fmla="val 6977"/>
            </a:avLst>
          </a:prstGeom>
          <a:solidFill>
            <a:srgbClr val="E8F8F5"/>
          </a:solidFill>
          <a:ln w="15240">
            <a:solidFill>
              <a:srgbClr val="2AAE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26151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Spring Boot API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82128" y="2898648"/>
            <a:ext cx="279806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JWT • Business Rules • REST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7772400" y="3785616"/>
            <a:ext cx="3017520" cy="786384"/>
          </a:xfrm>
          <a:prstGeom prst="roundRect">
            <a:avLst>
              <a:gd name="adj" fmla="val 6977"/>
            </a:avLst>
          </a:prstGeom>
          <a:solidFill>
            <a:srgbClr val="F1EC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39136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PostgreSQL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882128" y="4197096"/>
            <a:ext cx="279806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Flyway • Transactions • History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9281160" y="1993392"/>
            <a:ext cx="0" cy="475488"/>
          </a:xfrm>
          <a:prstGeom prst="line">
            <a:avLst/>
          </a:prstGeom>
          <a:noFill/>
          <a:ln w="22860">
            <a:solidFill>
              <a:srgbClr val="76A9F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281160" y="3291840"/>
            <a:ext cx="0" cy="475488"/>
          </a:xfrm>
          <a:prstGeom prst="line">
            <a:avLst/>
          </a:prstGeom>
          <a:noFill/>
          <a:ln w="22860">
            <a:solidFill>
              <a:srgbClr val="76A9FA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6EF5"/>
                </a:solidFill>
              </a:rPr>
              <a:t>BUSINESS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What problem are we solving?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 bookstore customer journey needs to be simple for users and reliable for the business.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73152" cy="3520440"/>
          </a:xfrm>
          <a:prstGeom prst="rect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1168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Customer pain points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423160"/>
            <a:ext cx="3136392" cy="2752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Hard to discover books across categories, publishers and search.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Cart and checkout must preserve accurate totals and availability.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Customers need reusable addresses, order history and clear payment status.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Times, prices and availability must be understandable in the local context.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828800"/>
            <a:ext cx="73152" cy="3520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201168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Business / system risks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44568" y="2423160"/>
            <a:ext cx="3136392" cy="2752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Overselling when stock validation and inventory updates are inconsistent.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Price drift if historical order values are not snapshotted.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Authorization mistakes exposing another customer’s data.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Schema drift when application code, database and API contract evolve separately.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204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828800"/>
            <a:ext cx="73152" cy="35204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201168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Solution value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47888" y="2423160"/>
            <a:ext cx="3136392" cy="2752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One secure end-to-end purchase journey.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Transactional checkout with inventory control.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Design-first API and schema governance.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Automated unit, integration and end-to-end validation.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6EF5"/>
                </a:solidFill>
              </a:rPr>
              <a:t>PRODUCT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MVP scope and customer journey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MVP focuses on the purchase lifecycle, from discovery to post-purchase actions.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029968"/>
            <a:ext cx="1298448" cy="1005840"/>
          </a:xfrm>
          <a:prstGeom prst="roundRect">
            <a:avLst>
              <a:gd name="adj" fmla="val 5455"/>
            </a:avLst>
          </a:prstGeom>
          <a:solidFill>
            <a:srgbClr val="EAF2FF"/>
          </a:solidFill>
          <a:ln w="15240">
            <a:solidFill>
              <a:srgbClr val="73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1579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Discover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2441448"/>
            <a:ext cx="10789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Search, category, publisher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1965960" y="2532888"/>
            <a:ext cx="246888" cy="0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58568" y="2029968"/>
            <a:ext cx="1298448" cy="1005840"/>
          </a:xfrm>
          <a:prstGeom prst="roundRect">
            <a:avLst>
              <a:gd name="adj" fmla="val 5455"/>
            </a:avLst>
          </a:prstGeom>
          <a:solidFill>
            <a:srgbClr val="E8F8F5"/>
          </a:solidFill>
          <a:ln w="15240">
            <a:solidFill>
              <a:srgbClr val="62C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0008" y="21579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Authenticate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68296" y="2441448"/>
            <a:ext cx="10789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Register / login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3566160" y="2532888"/>
            <a:ext cx="246888" cy="0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58768" y="2029968"/>
            <a:ext cx="1298448" cy="1005840"/>
          </a:xfrm>
          <a:prstGeom prst="roundRect">
            <a:avLst>
              <a:gd name="adj" fmla="val 5455"/>
            </a:avLst>
          </a:prstGeom>
          <a:solidFill>
            <a:srgbClr val="EAF2FF"/>
          </a:solidFill>
          <a:ln w="15240">
            <a:solidFill>
              <a:srgbClr val="73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21579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Cart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68496" y="2441448"/>
            <a:ext cx="10789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Add, update, remove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5166360" y="2532888"/>
            <a:ext cx="246888" cy="0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58968" y="2029968"/>
            <a:ext cx="1298448" cy="1005840"/>
          </a:xfrm>
          <a:prstGeom prst="roundRect">
            <a:avLst>
              <a:gd name="adj" fmla="val 5455"/>
            </a:avLst>
          </a:prstGeom>
          <a:solidFill>
            <a:srgbClr val="E8F8F5"/>
          </a:solidFill>
          <a:ln w="15240">
            <a:solidFill>
              <a:srgbClr val="62C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0408" y="21579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Address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568696" y="2441448"/>
            <a:ext cx="10789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Save &amp; select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6766560" y="2532888"/>
            <a:ext cx="246888" cy="0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59168" y="2029968"/>
            <a:ext cx="1298448" cy="1005840"/>
          </a:xfrm>
          <a:prstGeom prst="roundRect">
            <a:avLst>
              <a:gd name="adj" fmla="val 5455"/>
            </a:avLst>
          </a:prstGeom>
          <a:solidFill>
            <a:srgbClr val="EAF2FF"/>
          </a:solidFill>
          <a:ln w="15240">
            <a:solidFill>
              <a:srgbClr val="73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21579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Checkout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68896" y="2441448"/>
            <a:ext cx="10789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Validate + order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366760" y="2532888"/>
            <a:ext cx="246888" cy="0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659368" y="2029968"/>
            <a:ext cx="1298448" cy="1005840"/>
          </a:xfrm>
          <a:prstGeom prst="roundRect">
            <a:avLst>
              <a:gd name="adj" fmla="val 5455"/>
            </a:avLst>
          </a:prstGeom>
          <a:solidFill>
            <a:srgbClr val="E8F8F5"/>
          </a:solidFill>
          <a:ln w="15240">
            <a:solidFill>
              <a:srgbClr val="62C7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50808" y="21579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Payment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769096" y="2441448"/>
            <a:ext cx="10789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Simulated success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9966960" y="2532888"/>
            <a:ext cx="246888" cy="0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259568" y="2029968"/>
            <a:ext cx="1298448" cy="1005840"/>
          </a:xfrm>
          <a:prstGeom prst="roundRect">
            <a:avLst>
              <a:gd name="adj" fmla="val 5455"/>
            </a:avLst>
          </a:prstGeom>
          <a:solidFill>
            <a:srgbClr val="EAF2FF"/>
          </a:solidFill>
          <a:ln w="15240">
            <a:solidFill>
              <a:srgbClr val="73A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51008" y="21579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Orders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369296" y="2441448"/>
            <a:ext cx="10789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History, cancel, buy again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777240" y="3703320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370332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8408" y="38862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Delivered in the MVP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78408" y="4297680"/>
            <a:ext cx="482803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JWT authentication, catalog/search, related products, cart, address CRUD, order creation, simulated payment, order history, Buy Again, 48-hour cancellation, profile, INR display, IST presentation and book covers.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36208" y="3703320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FBFA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36208" y="370332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37376" y="38862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Intentionally outside MVP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37376" y="4297680"/>
            <a:ext cx="482803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Gift points, coupons, shipments, returns and refunds are documented as future scope rather than partially implemented features.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6EF5"/>
                </a:solidFill>
              </a:rPr>
              <a:t>DELIVERY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How I built the solution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 design-first, contract-driven workflow with IBM Bob used as an implementation accelerator.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30352" cy="530352"/>
          </a:xfrm>
          <a:prstGeom prst="ellipse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293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99032" y="18470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Requirements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99032" y="22402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Functional scope, business rules, error behavior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530352" cy="530352"/>
          </a:xfrm>
          <a:prstGeom prst="ellipse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9293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93792" y="18470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Data model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93792" y="22402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Tables, keys, constraints, money and lifecycle fields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275320" y="1828800"/>
            <a:ext cx="530352" cy="530352"/>
          </a:xfrm>
          <a:prstGeom prst="ellipse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9293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88552" y="18470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OpenAPI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88552" y="22402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REST contract, DTO shapes, auth and errors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685800" y="3657600"/>
            <a:ext cx="530352" cy="530352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37581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99032" y="36758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Backend MVP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99032" y="40690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14 implementation tasks in a modular monolith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4480560" y="3657600"/>
            <a:ext cx="530352" cy="530352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37581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93792" y="36758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Frontend MVP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93792" y="40690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React milestones aligned to the same API contract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8275320" y="3657600"/>
            <a:ext cx="530352" cy="530352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5048" y="37581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88552" y="36758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Validate &amp; polish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988552" y="40690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Tests, E2E, INR, IST, profile, covers, seed data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777240" y="5532120"/>
            <a:ext cx="10698480" cy="566928"/>
          </a:xfrm>
          <a:prstGeom prst="roundRect">
            <a:avLst>
              <a:gd name="adj" fmla="val 8065"/>
            </a:avLst>
          </a:prstGeom>
          <a:solidFill>
            <a:srgbClr val="EFF5FF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687568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4A7E"/>
                </a:solidFill>
              </a:rPr>
              <a:t>Bob’s role: implement bounded tasks. My role: define the contract, review changes, verify behavior, control scope and preserve a clean Git history.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6EF5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Solution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 modular monolith keeps the MVP simple while preserving clear domain boundaries.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2423160" cy="987552"/>
          </a:xfrm>
          <a:prstGeom prst="roundRect">
            <a:avLst>
              <a:gd name="adj" fmla="val 5556"/>
            </a:avLst>
          </a:prstGeom>
          <a:solidFill>
            <a:srgbClr val="EAF2FF"/>
          </a:solidFill>
          <a:ln w="15240">
            <a:solidFill>
              <a:srgbClr val="73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5681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React + TypeScript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6968" y="2240280"/>
            <a:ext cx="220370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Vite • React Router • typed API client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617720" y="1828800"/>
            <a:ext cx="2880360" cy="987552"/>
          </a:xfrm>
          <a:prstGeom prst="roundRect">
            <a:avLst>
              <a:gd name="adj" fmla="val 5556"/>
            </a:avLst>
          </a:prstGeom>
          <a:solidFill>
            <a:srgbClr val="E8F8F5"/>
          </a:solidFill>
          <a:ln w="15240">
            <a:solidFill>
              <a:srgbClr val="6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95681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Spring Boot REST API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27448" y="2240280"/>
            <a:ext cx="266090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Security + modules + validation + transactions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8942832" y="1828800"/>
            <a:ext cx="2423160" cy="987552"/>
          </a:xfrm>
          <a:prstGeom prst="roundRect">
            <a:avLst>
              <a:gd name="adj" fmla="val 5556"/>
            </a:avLst>
          </a:prstGeom>
          <a:solidFill>
            <a:srgbClr val="F1ECFF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34272" y="195681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PostgreSQL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052560" y="2240280"/>
            <a:ext cx="220370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JPA/Hibernate • Flyway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3218688" y="2322576"/>
            <a:ext cx="1353312" cy="0"/>
          </a:xfrm>
          <a:prstGeom prst="line">
            <a:avLst/>
          </a:prstGeom>
          <a:noFill/>
          <a:ln w="22860">
            <a:solidFill>
              <a:srgbClr val="146EF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16368" y="2322576"/>
            <a:ext cx="1371600" cy="0"/>
          </a:xfrm>
          <a:prstGeom prst="line">
            <a:avLst/>
          </a:prstGeom>
          <a:noFill/>
          <a:ln w="22860">
            <a:solidFill>
              <a:srgbClr val="146EF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319272" y="19751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HTTPS / JSON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26680" y="19751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SQL / transactions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374904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CEB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381304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5B9D"/>
                </a:solidFill>
              </a:rPr>
              <a:t>auth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27248" y="374904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CEB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381304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5B9D"/>
                </a:solidFill>
              </a:rPr>
              <a:t>user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40096" y="374904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CEB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381304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5B9D"/>
                </a:solidFill>
              </a:rPr>
              <a:t>catalog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52944" y="374904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CEB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07808" y="381304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5B9D"/>
                </a:solidFill>
              </a:rPr>
              <a:t>cart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765792" y="374904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CEB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20656" y="381304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5B9D"/>
                </a:solidFill>
              </a:rPr>
              <a:t>address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" y="461772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CEB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468172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5B9D"/>
                </a:solidFill>
              </a:rPr>
              <a:t>order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27248" y="461772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CEB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82112" y="468172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5B9D"/>
                </a:solidFill>
              </a:rPr>
              <a:t>payment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40096" y="461772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468172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C62"/>
                </a:solidFill>
              </a:rPr>
              <a:t>security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52944" y="461772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07808" y="468172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C62"/>
                </a:solidFill>
              </a:rPr>
              <a:t>config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765792" y="461772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20656" y="468172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C62"/>
                </a:solidFill>
              </a:rPr>
              <a:t>common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68680" y="5715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Why modular monolith?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788920" y="5715000"/>
            <a:ext cx="8549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Lower operational complexity for an MVP, but domain packages keep responsibilities separated and future extraction possible.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6EF5"/>
                </a:solidFill>
              </a:rPr>
              <a:t>BACKEND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Backend design and API contract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backend is organized around domain services, with OpenAPI as the external contract.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73152" cy="3291840"/>
          </a:xfrm>
          <a:prstGeom prst="rect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96596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Core backend patterns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2377440"/>
            <a:ext cx="3044952" cy="2523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Spring MVC REST controllers with DTOs.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Spring Data JPA repositories and service-layer transactions.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Centralized validation, authorization and error responses.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Injected Clock for deterministic time-based rules.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BigDecimal for monetary values.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783080"/>
            <a:ext cx="73152" cy="32918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96596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Primary API areas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0288" y="2377440"/>
            <a:ext cx="3044952" cy="2523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/auth — register, login, logout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/users/me — current user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/categories, /brands, /products — catalog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/cart, /addresses — customer state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/orders, /payments — purchase lifecycle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2440" y="178308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783080"/>
            <a:ext cx="73152" cy="3291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96596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Contract governance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93608" y="2377440"/>
            <a:ext cx="3044952" cy="2523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OpenAPI defines request/response shapes.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DTOs align to camelCase API fields.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Database migrations own schema changes.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Frontend types mirror the contract.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Phase-2 endpoints remain outside MVP implementation.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5532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EF5"/>
                </a:solidFill>
              </a:rPr>
              <a:t>Key principle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552297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The database, Java model and TypeScript types do not evolve independently; the contract is changed deliberately and then propagated.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6EF5"/>
                </a:solidFill>
              </a:rPr>
              <a:t>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Database design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PostgreSQL provides relational integrity, transactional checkout and durable order history.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EAF2FF"/>
          </a:solidFill>
          <a:ln w="15240">
            <a:solidFill>
              <a:srgbClr val="73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4825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users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11978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CUSTOMER / ADMIN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EAF2FF"/>
          </a:solidFill>
          <a:ln w="15240">
            <a:solidFill>
              <a:srgbClr val="73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998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addresses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3383280"/>
            <a:ext cx="11978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saved delivery data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1444752" y="2633472"/>
            <a:ext cx="0" cy="329184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88920" y="192024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E8F8F5"/>
          </a:solidFill>
          <a:ln w="15240">
            <a:solidFill>
              <a:srgbClr val="62C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04825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carts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98648" y="2331720"/>
            <a:ext cx="11978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ACTIVE lifecycle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2788920" y="297180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E8F8F5"/>
          </a:solidFill>
          <a:ln w="15240">
            <a:solidFill>
              <a:srgbClr val="62C7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0360" y="30998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cart_items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898648" y="3383280"/>
            <a:ext cx="11978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product + qty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502152" y="2633472"/>
            <a:ext cx="0" cy="329184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157984" y="2267712"/>
            <a:ext cx="585216" cy="0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37760" y="1920240"/>
            <a:ext cx="1481328" cy="713232"/>
          </a:xfrm>
          <a:prstGeom prst="roundRect">
            <a:avLst>
              <a:gd name="adj" fmla="val 7692"/>
            </a:avLst>
          </a:prstGeom>
          <a:solidFill>
            <a:srgbClr val="FFF7E6"/>
          </a:solidFill>
          <a:ln w="15240">
            <a:solidFill>
              <a:srgbClr val="F2B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04825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products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47488" y="2331720"/>
            <a:ext cx="12618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price + stock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617720" y="2971800"/>
            <a:ext cx="1143000" cy="658368"/>
          </a:xfrm>
          <a:prstGeom prst="roundRect">
            <a:avLst>
              <a:gd name="adj" fmla="val 8333"/>
            </a:avLst>
          </a:prstGeom>
          <a:solidFill>
            <a:srgbClr val="FFF7E6"/>
          </a:solidFill>
          <a:ln w="15240">
            <a:solidFill>
              <a:srgbClr val="F2B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09981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categories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897880" y="2971800"/>
            <a:ext cx="1143000" cy="658368"/>
          </a:xfrm>
          <a:prstGeom prst="roundRect">
            <a:avLst>
              <a:gd name="adj" fmla="val 8333"/>
            </a:avLst>
          </a:prstGeom>
          <a:solidFill>
            <a:srgbClr val="FFF7E6"/>
          </a:solidFill>
          <a:ln w="15240">
            <a:solidFill>
              <a:srgbClr val="F2B8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309981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brands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22392" y="2953512"/>
            <a:ext cx="82296" cy="-301752"/>
          </a:xfrm>
          <a:prstGeom prst="line">
            <a:avLst/>
          </a:prstGeom>
          <a:noFill/>
          <a:ln w="22860">
            <a:solidFill>
              <a:srgbClr val="B8A16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73952" y="2953512"/>
            <a:ext cx="-576072" cy="-301752"/>
          </a:xfrm>
          <a:prstGeom prst="line">
            <a:avLst/>
          </a:prstGeom>
          <a:noFill/>
          <a:ln w="22860">
            <a:solidFill>
              <a:srgbClr val="B8A16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224528" y="3319272"/>
            <a:ext cx="667512" cy="-987552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52360" y="192024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1ECFF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3800" y="204825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orders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562088" y="2331720"/>
            <a:ext cx="11978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status + totals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7452360" y="297180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1ECFF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43800" y="30998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order_items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562088" y="3383280"/>
            <a:ext cx="11978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price snapshot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8165592" y="2633472"/>
            <a:ext cx="0" cy="329184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157984" y="2414016"/>
            <a:ext cx="5248656" cy="0"/>
          </a:xfrm>
          <a:prstGeom prst="line">
            <a:avLst/>
          </a:prstGeom>
          <a:noFill/>
          <a:ln w="22860">
            <a:solidFill>
              <a:srgbClr val="B7C3D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424928" y="3319272"/>
            <a:ext cx="-338328" cy="-868680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784080" y="297180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DECEC"/>
          </a:solidFill>
          <a:ln w="15240">
            <a:solidFill>
              <a:srgbClr val="E9878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75520" y="30998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payments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893808" y="3383280"/>
            <a:ext cx="11978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unique order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8887968" y="2286000"/>
            <a:ext cx="1609344" cy="667512"/>
          </a:xfrm>
          <a:prstGeom prst="line">
            <a:avLst/>
          </a:prstGeom>
          <a:noFill/>
          <a:ln w="22860">
            <a:solidFill>
              <a:srgbClr val="B7C3D6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77240" y="475488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491947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46EF5"/>
                </a:solidFill>
              </a:rPr>
              <a:t>10</a:t>
            </a:r>
            <a:endParaRPr lang="en-US" sz="2700" dirty="0"/>
          </a:p>
        </p:txBody>
      </p:sp>
      <p:sp>
        <p:nvSpPr>
          <p:cNvPr id="45" name="Text 43"/>
          <p:cNvSpPr/>
          <p:nvPr/>
        </p:nvSpPr>
        <p:spPr>
          <a:xfrm>
            <a:off x="886968" y="5468112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MVP tables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063240" y="475488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54680" y="491947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9D8A"/>
                </a:solidFill>
              </a:rPr>
              <a:t>12</a:t>
            </a:r>
            <a:endParaRPr lang="en-US" sz="2700" dirty="0"/>
          </a:p>
        </p:txBody>
      </p:sp>
      <p:sp>
        <p:nvSpPr>
          <p:cNvPr id="48" name="Text 46"/>
          <p:cNvSpPr/>
          <p:nvPr/>
        </p:nvSpPr>
        <p:spPr>
          <a:xfrm>
            <a:off x="3172968" y="5468112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Flyway migrations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349240" y="475488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40680" y="491947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C3AED"/>
                </a:solidFill>
              </a:rPr>
              <a:t>12,2</a:t>
            </a:r>
            <a:endParaRPr lang="en-US" sz="2700" dirty="0"/>
          </a:p>
        </p:txBody>
      </p:sp>
      <p:sp>
        <p:nvSpPr>
          <p:cNvPr id="51" name="Text 49"/>
          <p:cNvSpPr/>
          <p:nvPr/>
        </p:nvSpPr>
        <p:spPr>
          <a:xfrm>
            <a:off x="5458968" y="5468112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NUMERIC precision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635240" y="475488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26680" y="491947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9E0B"/>
                </a:solidFill>
              </a:rPr>
              <a:t>48h</a:t>
            </a:r>
            <a:endParaRPr lang="en-US" sz="2700" dirty="0"/>
          </a:p>
        </p:txBody>
      </p:sp>
      <p:sp>
        <p:nvSpPr>
          <p:cNvPr id="54" name="Text 52"/>
          <p:cNvSpPr/>
          <p:nvPr/>
        </p:nvSpPr>
        <p:spPr>
          <a:xfrm>
            <a:off x="7744968" y="5468112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Cancellation window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921240" y="4754880"/>
            <a:ext cx="15087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921240" y="4754880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22408" y="49377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Why snapshots?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10122408" y="5349240"/>
            <a:ext cx="1124712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Order items keep purchase-time price even when catalog prices change later.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6EF5"/>
                </a:solidFill>
              </a:rPr>
              <a:t>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Security and authorization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Stateless JWT authentication protects customer operations without server-side session state.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AF2FF"/>
          </a:solidFill>
          <a:ln w="15240">
            <a:solidFill>
              <a:srgbClr val="73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56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Register / Login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" y="2240280"/>
            <a:ext cx="17922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BCrypt password hashing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3657600" y="18288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8F8F5"/>
          </a:solidFill>
          <a:ln w="15240">
            <a:solidFill>
              <a:srgbClr val="6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956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JWT Bearer Token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767328" y="2240280"/>
            <a:ext cx="17922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Stateless authentication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492240" y="18288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1ECFF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956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Protected APIs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01968" y="2240280"/>
            <a:ext cx="17922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Cart • Address • Orders • Payment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9326880" y="18288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7E6"/>
          </a:solidFill>
          <a:ln w="15240">
            <a:solidFill>
              <a:srgbClr val="F2B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0" y="1956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Ownership checks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436608" y="2240280"/>
            <a:ext cx="17922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Customer sees only own data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2852928" y="2267712"/>
            <a:ext cx="758952" cy="0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87568" y="2267712"/>
            <a:ext cx="758952" cy="0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22208" y="2267712"/>
            <a:ext cx="758952" cy="0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8680" y="3337560"/>
            <a:ext cx="3246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337560"/>
            <a:ext cx="73152" cy="1828800"/>
          </a:xfrm>
          <a:prstGeom prst="rect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352044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Authentication controls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69848" y="3931920"/>
            <a:ext cx="2862072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BCrypt hashes passwords.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Bearer token required on protected endpoints.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401 handling clears invalid frontend session.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80560" y="3337560"/>
            <a:ext cx="3246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337560"/>
            <a:ext cx="73152" cy="18288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352044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Authorization controls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81728" y="3931920"/>
            <a:ext cx="2862072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Roles: CUSTOMER and ADMIN.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Ownership enforced in service layer.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Unauthorized resource access follows the designed not-found behavior.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3337560"/>
            <a:ext cx="3246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2440" y="3337560"/>
            <a:ext cx="73152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93608" y="352044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Input &amp; error controls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93608" y="3931920"/>
            <a:ext cx="2862072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Bean validation for request fields.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Centralized ErrorResponse structure.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Conflict handling for stock and business rules.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6EF5"/>
                </a:solidFill>
              </a:rPr>
              <a:t>FRONTEND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Frontend architecture and UX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React + TypeScript consumes the same API contract and keeps customer state predictable.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2743200" cy="3246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73152" cy="3246120"/>
          </a:xfrm>
          <a:prstGeom prst="rect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9659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Application shell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2377440"/>
            <a:ext cx="2359152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React Router protected/public routes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Header navigation and authenticated profile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Shared loading, error and empty states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Vite proxy to Spring Boot API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11880" y="1783080"/>
            <a:ext cx="2743200" cy="3246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783080"/>
            <a:ext cx="73152" cy="32461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3048" y="19659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Feature modules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13048" y="2377440"/>
            <a:ext cx="2359152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auth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catalog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cart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address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checkout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payment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orders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profile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37960" y="1783080"/>
            <a:ext cx="2331720" cy="32461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1783080"/>
            <a:ext cx="73152" cy="3246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9128" y="19659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Shared types &amp; utilities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39128" y="2377440"/>
            <a:ext cx="1947672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OpenAPI-aligned DTO types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formatCurrency → INR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formatDateTime → Asia/Kolkata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Reusable ProductGrid / ProductCard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52560" y="1783080"/>
            <a:ext cx="2468880" cy="32461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783080"/>
            <a:ext cx="73152" cy="3246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53728" y="19659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Customer polish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53728" y="2377440"/>
            <a:ext cx="2084832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Book cover image + fallback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70-book demo catalog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Address CRUD inside profile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Responsive catalog and product pages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280160" y="5440680"/>
            <a:ext cx="9509760" cy="566928"/>
          </a:xfrm>
          <a:prstGeom prst="roundRect">
            <a:avLst>
              <a:gd name="adj" fmla="val 8065"/>
            </a:avLst>
          </a:prstGeom>
          <a:solidFill>
            <a:srgbClr val="F0F7FF"/>
          </a:solidFill>
          <a:ln w="12700">
            <a:solidFill>
              <a:srgbClr val="D2E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5614416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2B5685"/>
                </a:solidFill>
              </a:rPr>
              <a:t>Design principle: server remains authoritative for prices, totals, stock and order state; the frontend renders and orchestrates the user journey.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6EF5"/>
                </a:solidFill>
              </a:rPr>
              <a:t>CORE TRANSACTION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Checkout, inventory and payment 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most important business transaction is deliberately split into order creation and payment.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508760" cy="91440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5240">
            <a:solidFill>
              <a:srgbClr val="73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0253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Cart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286000"/>
            <a:ext cx="128930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Items + quantities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2066544" y="2331720"/>
            <a:ext cx="228600" cy="0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31720" y="1874520"/>
            <a:ext cx="1508760" cy="914400"/>
          </a:xfrm>
          <a:prstGeom prst="roundRect">
            <a:avLst>
              <a:gd name="adj" fmla="val 6000"/>
            </a:avLst>
          </a:prstGeom>
          <a:solidFill>
            <a:srgbClr val="E8F8F5"/>
          </a:solidFill>
          <a:ln w="15240">
            <a:solidFill>
              <a:srgbClr val="62C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200253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Validate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41448" y="2286000"/>
            <a:ext cx="128930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Address + stock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3849624" y="2331720"/>
            <a:ext cx="228600" cy="0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114800" y="1874520"/>
            <a:ext cx="1508760" cy="914400"/>
          </a:xfrm>
          <a:prstGeom prst="roundRect">
            <a:avLst>
              <a:gd name="adj" fmla="val 6000"/>
            </a:avLst>
          </a:prstGeom>
          <a:solidFill>
            <a:srgbClr val="F1ECFF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00253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Create Order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224528" y="2286000"/>
            <a:ext cx="128930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Snapshots + totals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5632704" y="2331720"/>
            <a:ext cx="228600" cy="0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97880" y="1874520"/>
            <a:ext cx="1508760" cy="91440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 w="15240">
            <a:solidFill>
              <a:srgbClr val="F2B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00253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Deduct Stock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007608" y="2286000"/>
            <a:ext cx="128930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Exact ordered qty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415784" y="2331720"/>
            <a:ext cx="228600" cy="0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80960" y="1874520"/>
            <a:ext cx="1508760" cy="9144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5240">
            <a:solidFill>
              <a:srgbClr val="E987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00253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PENDING_PAYMENT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90688" y="2286000"/>
            <a:ext cx="128930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Order persisted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9198864" y="2331720"/>
            <a:ext cx="457200" cy="0"/>
          </a:xfrm>
          <a:prstGeom prst="line">
            <a:avLst/>
          </a:prstGeom>
          <a:noFill/>
          <a:ln w="22860">
            <a:solidFill>
              <a:srgbClr val="8BA5C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92640" y="1874520"/>
            <a:ext cx="1508760" cy="914400"/>
          </a:xfrm>
          <a:prstGeom prst="roundRect">
            <a:avLst>
              <a:gd name="adj" fmla="val 6000"/>
            </a:avLst>
          </a:prstGeom>
          <a:solidFill>
            <a:srgbClr val="E8F8F5"/>
          </a:solidFill>
          <a:ln w="15240">
            <a:solidFill>
              <a:srgbClr val="62C7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0" y="200253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Payment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802368" y="2286000"/>
            <a:ext cx="128930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Simulated success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731520" y="342900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3429000"/>
            <a:ext cx="73152" cy="1828800"/>
          </a:xfrm>
          <a:prstGeom prst="rect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36118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Why deduct at order creation?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32688" y="4023360"/>
            <a:ext cx="2907792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Prevents checkout from reserving stock that still appears available.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Order creation and inventory change are in one transaction.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Payment must not decrement stock again.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434840" y="342900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4840" y="3429000"/>
            <a:ext cx="73152" cy="18288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36008" y="36118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Failure behavior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636008" y="4023360"/>
            <a:ext cx="2907792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Insufficient stock rejects the order.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No negative inventory.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Transactional rollback avoids partial persistence.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Exact-stock purchase is allowed and results in zero.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38160" y="342900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3429000"/>
            <a:ext cx="73152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39328" y="36118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Historical accuracy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339328" y="4023360"/>
            <a:ext cx="2907792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Order items snapshot title/price at purchase time.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Later catalog price changes do not rewrite order history.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Payment is linked uniquely to its order.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6EF5"/>
                </a:solidFill>
              </a:rPr>
              <a:t>POLISH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Localization and time correctness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Customer-facing INR and IST were added without corrupting backend data semantics.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329184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73152" cy="3246120"/>
          </a:xfrm>
          <a:prstGeom prst="rect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9659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Currency: INR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248716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Shared Intl.NumberFormat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2852928"/>
            <a:ext cx="27432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Locale: en-IN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Currency: INR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Example: ₹1,099.00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Server still uses BigDecimal / NUMERIC(12,2)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434840" y="1783080"/>
            <a:ext cx="329184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783080"/>
            <a:ext cx="73152" cy="32461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9659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Time: real instant → IST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36008" y="2377440"/>
            <a:ext cx="2907792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Backend uses OffsetDateTime with injected UTC Clock.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JSON includes an offset such as +00:00.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Frontend parses the instant and formats with Asia/Kolkata.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No manual +05:30 arithmetic.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783080"/>
            <a:ext cx="329184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783080"/>
            <a:ext cx="73152" cy="3246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9659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Why the fix mattered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93608" y="2377440"/>
            <a:ext cx="2907792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LocalDateTime serialized without offset was ambiguous in JavaScript.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Offset-aware timestamps preserve the real instant.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placedAt, paidAt and cancellationDeadline now display correctly in IST.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828800" y="5440680"/>
            <a:ext cx="8503920" cy="530352"/>
          </a:xfrm>
          <a:prstGeom prst="roundRect">
            <a:avLst>
              <a:gd name="adj" fmla="val 8621"/>
            </a:avLst>
          </a:prstGeom>
          <a:solidFill>
            <a:srgbClr val="EEF9F6"/>
          </a:solidFill>
          <a:ln w="12700">
            <a:solidFill>
              <a:srgbClr val="C8EB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0" y="560527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60"/>
                </a:solidFill>
              </a:rPr>
              <a:t>UTC in the backend + IST in the UI = correct instant, correct local presentation.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6EF5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Quality engineering and test strategy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Tests validate service logic, real PostgreSQL behavior and end-to-end user journeys.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23317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4767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6A34A"/>
                </a:solidFill>
              </a:rPr>
              <a:t>282/282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41248" y="249631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Backend tests passed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783080"/>
            <a:ext cx="23317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94767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46EF5"/>
                </a:solidFill>
              </a:rPr>
              <a:t>115/115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447288" y="249631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Frontend unit/component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1783080"/>
            <a:ext cx="23317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94767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C3AED"/>
                </a:solidFill>
              </a:rPr>
              <a:t>14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053328" y="249631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Playwright scenarios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49640" y="1783080"/>
            <a:ext cx="23317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194767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9D8A"/>
                </a:solidFill>
              </a:rPr>
              <a:t>59/59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8659368" y="249631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Targeted stock/time tests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383280"/>
            <a:ext cx="32461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383280"/>
            <a:ext cx="73152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56616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Backend coverage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8408" y="3977640"/>
            <a:ext cx="2862072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JUnit 5 + Mockito service tests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Controller / integration tests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PostgreSQL Testcontainers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Security, validation, cancellation, stock, timestamps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34840" y="3383280"/>
            <a:ext cx="32461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3383280"/>
            <a:ext cx="73152" cy="1874520"/>
          </a:xfrm>
          <a:prstGeom prst="rect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56616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Frontend coverage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36008" y="3977640"/>
            <a:ext cx="2862072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Vitest + React Testing Library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Catalog, cart, payment, orders, profile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Currency/date-time formatters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Protected route behavior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92440" y="3383280"/>
            <a:ext cx="32461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2440" y="3383280"/>
            <a:ext cx="73152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93608" y="356616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E2E learning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93608" y="3977640"/>
            <a:ext cx="2862072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Real backend + Vite frontend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Covers auth, catalog, cart, checkout/payment, orders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Shared DB state can make parallel runs flaky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Seed reset / serial execution improves determinism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6EF5"/>
                </a:solidFill>
              </a:rPr>
              <a:t>ENGINEERING LESSONS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Problems encountered and how they were solved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project improved through targeted debugging rather than broad rewrites.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</a:rPr>
              <a:t>Issue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</a:rPr>
              <a:t>Root cause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8076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</a:rPr>
              <a:t>Resolution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" y="2112264"/>
            <a:ext cx="10744200" cy="52120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7620">
            <a:solidFill>
              <a:srgbClr val="E6EB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112264"/>
            <a:ext cx="64008" cy="521208"/>
          </a:xfrm>
          <a:prstGeom prst="rect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176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</a:rPr>
              <a:t>Book covers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743200" y="2176272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</a:rPr>
              <a:t>Original schema had no image field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6080760" y="217627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</a:rPr>
              <a:t>V12 nullable image_url + API/DTO/type propagation + fallback UI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713232" y="2734056"/>
            <a:ext cx="10744200" cy="521208"/>
          </a:xfrm>
          <a:prstGeom prst="roundRect">
            <a:avLst>
              <a:gd name="adj" fmla="val 5263"/>
            </a:avLst>
          </a:prstGeom>
          <a:solidFill>
            <a:srgbClr val="F8FAFD"/>
          </a:solidFill>
          <a:ln w="7620">
            <a:solidFill>
              <a:srgbClr val="E6EB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734056"/>
            <a:ext cx="64008" cy="52120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7980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</a:rPr>
              <a:t>Currency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2743200" y="2798064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</a:rPr>
              <a:t>USD-style demo prices and $ formatting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6080760" y="279806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</a:rPr>
              <a:t>INR seed values + shared Intl.NumberFormat(en-IN, INR)</a:t>
            </a:r>
            <a:endParaRPr lang="en-US" sz="1010" dirty="0"/>
          </a:p>
        </p:txBody>
      </p:sp>
      <p:sp>
        <p:nvSpPr>
          <p:cNvPr id="18" name="Shape 16"/>
          <p:cNvSpPr/>
          <p:nvPr/>
        </p:nvSpPr>
        <p:spPr>
          <a:xfrm>
            <a:off x="713232" y="3355848"/>
            <a:ext cx="10744200" cy="52120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7620">
            <a:solidFill>
              <a:srgbClr val="E6EB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355848"/>
            <a:ext cx="64008" cy="521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4198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</a:rPr>
              <a:t>Time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743200" y="3419856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</a:rPr>
              <a:t>LocalDateTime lost UTC context in JSON</a:t>
            </a:r>
            <a:endParaRPr lang="en-US" sz="1010" dirty="0"/>
          </a:p>
        </p:txBody>
      </p:sp>
      <p:sp>
        <p:nvSpPr>
          <p:cNvPr id="22" name="Text 20"/>
          <p:cNvSpPr/>
          <p:nvPr/>
        </p:nvSpPr>
        <p:spPr>
          <a:xfrm>
            <a:off x="6080760" y="341985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</a:rPr>
              <a:t>OffsetDateTime + UTC Clock + Asia/Kolkata UI formatting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13232" y="3977640"/>
            <a:ext cx="10744200" cy="521208"/>
          </a:xfrm>
          <a:prstGeom prst="roundRect">
            <a:avLst>
              <a:gd name="adj" fmla="val 5263"/>
            </a:avLst>
          </a:prstGeom>
          <a:solidFill>
            <a:srgbClr val="F8FAFD"/>
          </a:solidFill>
          <a:ln w="7620">
            <a:solidFill>
              <a:srgbClr val="E6EB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977640"/>
            <a:ext cx="64008" cy="5212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0416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</a:rPr>
              <a:t>Stock verification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2743200" y="4041648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</a:rPr>
              <a:t>User observed unchanged stock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6080760" y="404164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</a:rPr>
              <a:t>Confirmed transactional decrement; stale/reseeded data explained the observation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713232" y="4599432"/>
            <a:ext cx="10744200" cy="52120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7620">
            <a:solidFill>
              <a:srgbClr val="E6EB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4599432"/>
            <a:ext cx="64008" cy="5212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4663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</a:rPr>
              <a:t>Legacy seed data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2743200" y="4663440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</a:rPr>
              <a:t>Old hyphenated ISBN rows caused duplicates</a:t>
            </a:r>
            <a:endParaRPr lang="en-US" sz="1010" dirty="0"/>
          </a:p>
        </p:txBody>
      </p:sp>
      <p:sp>
        <p:nvSpPr>
          <p:cNvPr id="32" name="Text 30"/>
          <p:cNvSpPr/>
          <p:nvPr/>
        </p:nvSpPr>
        <p:spPr>
          <a:xfrm>
            <a:off x="6080760" y="466344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</a:rPr>
              <a:t>Deactivated legacy catalog rows; preserved historical references</a:t>
            </a:r>
            <a:endParaRPr lang="en-US" sz="1010" dirty="0"/>
          </a:p>
        </p:txBody>
      </p:sp>
      <p:sp>
        <p:nvSpPr>
          <p:cNvPr id="33" name="Shape 31"/>
          <p:cNvSpPr/>
          <p:nvPr/>
        </p:nvSpPr>
        <p:spPr>
          <a:xfrm>
            <a:off x="713232" y="5221224"/>
            <a:ext cx="10744200" cy="521208"/>
          </a:xfrm>
          <a:prstGeom prst="roundRect">
            <a:avLst>
              <a:gd name="adj" fmla="val 5263"/>
            </a:avLst>
          </a:prstGeom>
          <a:solidFill>
            <a:srgbClr val="F8FAFD"/>
          </a:solidFill>
          <a:ln w="7620">
            <a:solidFill>
              <a:srgbClr val="E6EB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" y="5221224"/>
            <a:ext cx="64008" cy="521208"/>
          </a:xfrm>
          <a:prstGeom prst="rect">
            <a:avLst/>
          </a:prstGeom>
          <a:solidFill>
            <a:srgbClr val="7C6F64"/>
          </a:solidFill>
          <a:ln w="12700">
            <a:solidFill>
              <a:srgbClr val="7C6F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2852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</a:rPr>
              <a:t>E2E stability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2743200" y="5285232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</a:rPr>
              <a:t>Parallel tests share real DB and mutate stock</a:t>
            </a:r>
            <a:endParaRPr lang="en-US" sz="1010" dirty="0"/>
          </a:p>
        </p:txBody>
      </p:sp>
      <p:sp>
        <p:nvSpPr>
          <p:cNvPr id="37" name="Text 35"/>
          <p:cNvSpPr/>
          <p:nvPr/>
        </p:nvSpPr>
        <p:spPr>
          <a:xfrm>
            <a:off x="6080760" y="528523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</a:rPr>
              <a:t>Reset deterministic seed / run serially for stable full-stack verification</a:t>
            </a:r>
            <a:endParaRPr lang="en-US" sz="10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6EF5"/>
                </a:solidFill>
              </a:rPr>
              <a:t>DESIGN DECISIONS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Key technical decisions and trade-offs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architecture favors correctness, maintainability and MVP delivery speed.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5120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938528"/>
            <a:ext cx="347472" cy="347472"/>
          </a:xfrm>
          <a:prstGeom prst="ellipse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4168" y="18470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102A43"/>
                </a:solidFill>
              </a:rPr>
              <a:t>Modular monolith</a:t>
            </a:r>
            <a:endParaRPr lang="en-US" sz="1170" dirty="0"/>
          </a:p>
        </p:txBody>
      </p:sp>
      <p:sp>
        <p:nvSpPr>
          <p:cNvPr id="8" name="Text 6"/>
          <p:cNvSpPr/>
          <p:nvPr/>
        </p:nvSpPr>
        <p:spPr>
          <a:xfrm>
            <a:off x="1344168" y="2103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67085"/>
                </a:solidFill>
              </a:rPr>
              <a:t>Chosen over microservices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3429000" y="190195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Less deployment complexity; domain boundaries remain clear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120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82512" y="1938528"/>
            <a:ext cx="347472" cy="347472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76288" y="18470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102A43"/>
                </a:solidFill>
              </a:rPr>
              <a:t>Flyway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6876288" y="2103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67085"/>
                </a:solidFill>
              </a:rPr>
              <a:t>Chosen over Hibernate DDL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8961120" y="190195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Repeatable schema history and deployment control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5120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03580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44168" y="29443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102A43"/>
                </a:solidFill>
              </a:rPr>
              <a:t>JWT + BCrypt</a:t>
            </a:r>
            <a:endParaRPr lang="en-US" sz="1170" dirty="0"/>
          </a:p>
        </p:txBody>
      </p:sp>
      <p:sp>
        <p:nvSpPr>
          <p:cNvPr id="18" name="Text 16"/>
          <p:cNvSpPr/>
          <p:nvPr/>
        </p:nvSpPr>
        <p:spPr>
          <a:xfrm>
            <a:off x="1344168" y="32004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67085"/>
                </a:solidFill>
              </a:rPr>
              <a:t>Stateless auth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3429000" y="299923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Simple API scaling; frontend handles token lifecycle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217920" y="2834640"/>
            <a:ext cx="5120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82512" y="303580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29443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102A43"/>
                </a:solidFill>
              </a:rPr>
              <a:t>BigDecimal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6876288" y="32004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67085"/>
                </a:solidFill>
              </a:rPr>
              <a:t>Money representation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8961120" y="299923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Avoids binary floating-point errors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85800" y="3931920"/>
            <a:ext cx="5120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" y="4133088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44168" y="40416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102A43"/>
                </a:solidFill>
              </a:rPr>
              <a:t>Order-time stock decrement</a:t>
            </a:r>
            <a:endParaRPr lang="en-US" sz="1170" dirty="0"/>
          </a:p>
        </p:txBody>
      </p:sp>
      <p:sp>
        <p:nvSpPr>
          <p:cNvPr id="28" name="Text 26"/>
          <p:cNvSpPr/>
          <p:nvPr/>
        </p:nvSpPr>
        <p:spPr>
          <a:xfrm>
            <a:off x="1344168" y="4297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67085"/>
                </a:solidFill>
              </a:rPr>
              <a:t>Inventory policy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3429000" y="409651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Prevents overselling; payment cannot double-decrement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217920" y="3931920"/>
            <a:ext cx="5120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82512" y="4133088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76288" y="40416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102A43"/>
                </a:solidFill>
              </a:rPr>
              <a:t>Offset-aware timestamps</a:t>
            </a:r>
            <a:endParaRPr lang="en-US" sz="1170" dirty="0"/>
          </a:p>
        </p:txBody>
      </p:sp>
      <p:sp>
        <p:nvSpPr>
          <p:cNvPr id="33" name="Text 31"/>
          <p:cNvSpPr/>
          <p:nvPr/>
        </p:nvSpPr>
        <p:spPr>
          <a:xfrm>
            <a:off x="6876288" y="4297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67085"/>
                </a:solidFill>
              </a:rPr>
              <a:t>Time correctness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8961120" y="409651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Real instant preserved; local timezone becomes presentation concern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85800" y="5029200"/>
            <a:ext cx="5120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0392" y="5230368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44168" y="51389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102A43"/>
                </a:solidFill>
              </a:rPr>
              <a:t>Testcontainers</a:t>
            </a:r>
            <a:endParaRPr lang="en-US" sz="1170" dirty="0"/>
          </a:p>
        </p:txBody>
      </p:sp>
      <p:sp>
        <p:nvSpPr>
          <p:cNvPr id="38" name="Text 36"/>
          <p:cNvSpPr/>
          <p:nvPr/>
        </p:nvSpPr>
        <p:spPr>
          <a:xfrm>
            <a:off x="1344168" y="5394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67085"/>
                </a:solidFill>
              </a:rPr>
              <a:t>Integration fidelity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3429000" y="519379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Tests real PostgreSQL behavior instead of an in-memory substitute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6217920" y="5029200"/>
            <a:ext cx="5120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82512" y="5230368"/>
            <a:ext cx="347472" cy="34747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76288" y="51389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102A43"/>
                </a:solidFill>
              </a:rPr>
              <a:t>OpenAPI-first</a:t>
            </a:r>
            <a:endParaRPr lang="en-US" sz="1170" dirty="0"/>
          </a:p>
        </p:txBody>
      </p:sp>
      <p:sp>
        <p:nvSpPr>
          <p:cNvPr id="43" name="Text 41"/>
          <p:cNvSpPr/>
          <p:nvPr/>
        </p:nvSpPr>
        <p:spPr>
          <a:xfrm>
            <a:off x="6876288" y="5394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67085"/>
                </a:solidFill>
              </a:rPr>
              <a:t>Contract governance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8961120" y="519379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Keeps backend DTOs and frontend types aligned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6EF5"/>
                </a:solidFill>
              </a:rPr>
              <a:t>OUTCOME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Current result: a complete MVP purchase journey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application is demo-ready and has been manually verified end to end.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33832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029968"/>
            <a:ext cx="420624" cy="420624"/>
          </a:xfrm>
          <a:prstGeom prst="ellipse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03911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63624" y="19385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</a:rPr>
              <a:t>Catalog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1563624" y="224028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70 seeded books, covers, search/filter, related products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480560" y="1783080"/>
            <a:ext cx="33832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2029968"/>
            <a:ext cx="420624" cy="420624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203911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66944" y="19385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</a:rPr>
              <a:t>Localization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5266944" y="224028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INR prices and IST customer-facing timestamps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183880" y="1783080"/>
            <a:ext cx="33832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5048" y="2029968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9912" y="203911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70264" y="19385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</a:rPr>
              <a:t>Profile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8970264" y="224028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User details + reusable address CRUD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77240" y="3136392"/>
            <a:ext cx="33832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8408" y="3383280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339242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63624" y="32918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</a:rPr>
              <a:t>Checkout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1563624" y="359359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Stock validation + transactional order creation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480560" y="3136392"/>
            <a:ext cx="33832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3383280"/>
            <a:ext cx="420624" cy="42062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339242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66944" y="32918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</a:rPr>
              <a:t>Payment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5266944" y="359359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Separate simulated payment, no double stock decrement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183880" y="3136392"/>
            <a:ext cx="33832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85048" y="3383280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39912" y="339242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70264" y="32918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</a:rPr>
              <a:t>Orders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8970264" y="359359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History, details, Buy Again and 48-hour cancellation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822960" y="4681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Suggested live demo sequence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22960" y="5138928"/>
            <a:ext cx="10561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Login  →  Search a book  →  Product detail  →  Cart qty 2  →  Profile/address  →  Checkout  →  Payment  →  Orders  →  Verify stock in PostgreSQL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377440" y="5833872"/>
            <a:ext cx="7406640" cy="365760"/>
          </a:xfrm>
          <a:prstGeom prst="roundRect">
            <a:avLst>
              <a:gd name="adj" fmla="val 12500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592531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5894"/>
                </a:solidFill>
              </a:rPr>
              <a:t>Keep the live demo to 4–5 minutes and let the slides explain the architecture around it.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6EF5"/>
                </a:solidFill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Future scope / Phase 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next iteration can extend the purchase lifecycle without destabilizing the MVP core.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1965960" cy="24231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35608" y="2212848"/>
            <a:ext cx="658368" cy="658368"/>
          </a:xfrm>
          <a:prstGeom prst="ellipse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81912" y="236829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154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Gift points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Earn/redeem balance and transaction history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044952" y="1920240"/>
            <a:ext cx="1965960" cy="24231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2212848"/>
            <a:ext cx="658368" cy="65836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9624" y="236829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73552" y="3154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Coupons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27832" y="358444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Validation, discount rules and expiry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312664" y="1920240"/>
            <a:ext cx="1965960" cy="24231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71032" y="2212848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17336" y="236829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41264" y="3154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Shipments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95544" y="358444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Tracking, status and delivery events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580376" y="1920240"/>
            <a:ext cx="1965960" cy="24231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38744" y="2212848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85048" y="236829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808976" y="3154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Returns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63256" y="358444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Eligibility, request lifecycle and reasons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9848088" y="1920240"/>
            <a:ext cx="1965960" cy="24231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06456" y="2212848"/>
            <a:ext cx="658368" cy="6583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52760" y="236829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76688" y="3154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Refunds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30968" y="358444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Payment-linked refund processing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1280160" y="4800600"/>
            <a:ext cx="96012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80160" y="4800600"/>
            <a:ext cx="73152" cy="1051560"/>
          </a:xfrm>
          <a:prstGeom prst="rect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81328" y="4983480"/>
            <a:ext cx="9235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How I would approach Phase 2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481328" y="5394960"/>
            <a:ext cx="921715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Keep the same contract-first workflow: update requirements → data model → OpenAPI → migrations → backend → frontend → focused regression tests. Avoid combining multiple Phase-2 domains into one uncontrolled agent task.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6EF5"/>
                </a:solidFill>
              </a:rPr>
              <a:t>APPENDIX / Q&amp;A PREP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SME discussion topics to be ready for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Expect “why did you choose this?” questions more than “what file contains this?”.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6EF5"/>
                </a:solidFill>
              </a:rPr>
              <a:t>Architecture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148840" y="169164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Why modular monolith? When would you move to microservices?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2258568"/>
            <a:ext cx="5349240" cy="0"/>
          </a:xfrm>
          <a:prstGeom prst="line">
            <a:avLst/>
          </a:prstGeom>
          <a:noFill/>
          <a:ln w="8890">
            <a:solidFill>
              <a:srgbClr val="E4E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916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6EF5"/>
                </a:solidFill>
              </a:rPr>
              <a:t>Database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0" y="169164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Why Flyway? How do transactions prevent partial checkout?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6520" y="2258568"/>
            <a:ext cx="5349240" cy="0"/>
          </a:xfrm>
          <a:prstGeom prst="line">
            <a:avLst/>
          </a:prstGeom>
          <a:noFill/>
          <a:ln w="8890">
            <a:solidFill>
              <a:srgbClr val="E4E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328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6EF5"/>
                </a:solidFill>
              </a:rPr>
              <a:t>Inventory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48840" y="253288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Why decrement stock at order creation instead of payment?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099816"/>
            <a:ext cx="5349240" cy="0"/>
          </a:xfrm>
          <a:prstGeom prst="line">
            <a:avLst/>
          </a:prstGeom>
          <a:noFill/>
          <a:ln w="8890">
            <a:solidFill>
              <a:srgbClr val="E4E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5328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6EF5"/>
                </a:solidFill>
              </a:rPr>
              <a:t>Security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3840" y="253288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How do JWT, roles and ownership checks work together?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46520" y="3099816"/>
            <a:ext cx="5349240" cy="0"/>
          </a:xfrm>
          <a:prstGeom prst="line">
            <a:avLst/>
          </a:prstGeom>
          <a:noFill/>
          <a:ln w="8890">
            <a:solidFill>
              <a:srgbClr val="E4E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3741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6EF5"/>
                </a:solidFill>
              </a:rPr>
              <a:t>Money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48840" y="3374136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Why BigDecimal / NUMERIC instead of double?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3941064"/>
            <a:ext cx="5349240" cy="0"/>
          </a:xfrm>
          <a:prstGeom prst="line">
            <a:avLst/>
          </a:prstGeom>
          <a:noFill/>
          <a:ln w="8890">
            <a:solidFill>
              <a:srgbClr val="E4E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3741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6EF5"/>
                </a:solidFill>
              </a:rPr>
              <a:t>Time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0" y="3374136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Why UTC/OffsetDateTime backend and IST only in presentation?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46520" y="3941064"/>
            <a:ext cx="5349240" cy="0"/>
          </a:xfrm>
          <a:prstGeom prst="line">
            <a:avLst/>
          </a:prstGeom>
          <a:noFill/>
          <a:ln w="8890">
            <a:solidFill>
              <a:srgbClr val="E4E9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2153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6EF5"/>
                </a:solidFill>
              </a:rPr>
              <a:t>API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48840" y="4215384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How does OpenAPI keep frontend and backend aligned?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4782312"/>
            <a:ext cx="5349240" cy="0"/>
          </a:xfrm>
          <a:prstGeom prst="line">
            <a:avLst/>
          </a:prstGeom>
          <a:noFill/>
          <a:ln w="8890">
            <a:solidFill>
              <a:srgbClr val="E4E9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2153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6EF5"/>
                </a:solidFill>
              </a:rPr>
              <a:t>Testing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863840" y="4215384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What is tested with Mockito vs Testcontainers vs Playwright?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46520" y="4782312"/>
            <a:ext cx="5349240" cy="0"/>
          </a:xfrm>
          <a:prstGeom prst="line">
            <a:avLst/>
          </a:prstGeom>
          <a:noFill/>
          <a:ln w="8890">
            <a:solidFill>
              <a:srgbClr val="E4E9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0566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6EF5"/>
                </a:solidFill>
              </a:rPr>
              <a:t>Agentic workflow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148840" y="5056632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How did you prevent Bob from changing scope or architecture?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1520" y="5623560"/>
            <a:ext cx="5349240" cy="0"/>
          </a:xfrm>
          <a:prstGeom prst="line">
            <a:avLst/>
          </a:prstGeom>
          <a:noFill/>
          <a:ln w="8890">
            <a:solidFill>
              <a:srgbClr val="E4E9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50566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6EF5"/>
                </a:solidFill>
              </a:rPr>
              <a:t>Scalability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863840" y="5056632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What would you change for high traffic, real payments or distributed inventory?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46520" y="5623560"/>
            <a:ext cx="5349240" cy="0"/>
          </a:xfrm>
          <a:prstGeom prst="line">
            <a:avLst/>
          </a:prstGeom>
          <a:noFill/>
          <a:ln w="8890">
            <a:solidFill>
              <a:srgbClr val="E4E9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6EF5"/>
                </a:solidFill>
              </a:rPr>
              <a:t>CLOSE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Conclusion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 working, tested MVP built with clear contracts, controlled agentic development and end-to-end validation.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20040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73152" cy="2423160"/>
          </a:xfrm>
          <a:prstGeom prst="rect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11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What was delivered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2423160"/>
            <a:ext cx="2816352" cy="1655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Full customer purchase journey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Secure backend + responsive frontend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PostgreSQL schema and migrations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Automated validation across layers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20040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28800"/>
            <a:ext cx="73152" cy="242316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011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What I demonstrated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81728" y="2423160"/>
            <a:ext cx="2816352" cy="1655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Design-first engineering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Transactional business logic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API/database/frontend alignment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Root-cause debugging and test-driven fixes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20040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828800"/>
            <a:ext cx="73152" cy="2423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2011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Submission package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39328" y="2423160"/>
            <a:ext cx="2816352" cy="1655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GitHub source repository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README + design documents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Demo seed script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Recorded demo video / GitHub Release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This presentation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828800" y="50749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Thank you — Questions?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286000" y="57424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Recommended presentation: 12–15 minutes + 5 minutes for SME Q&amp;A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Capstone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E-Bookstore Capstone — Design, Build &amp; Validation</dc:title>
  <dc:subject>E-Bookstore Capstone Project</dc:subject>
  <dc:creator>Bhargav Bhutwala</dc:creator>
  <cp:lastModifiedBy>Bhargav Bhutwala</cp:lastModifiedBy>
  <cp:revision>1</cp:revision>
  <dcterms:created xsi:type="dcterms:W3CDTF">2026-08-29T15:24:58Z</dcterms:created>
  <dcterms:modified xsi:type="dcterms:W3CDTF">2026-08-29T15:24:58Z</dcterms:modified>
</cp:coreProperties>
</file>